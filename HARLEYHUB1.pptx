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6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130E1D-0C12-4A99-8D2A-7A69FB715490}">
          <p14:sldIdLst>
            <p14:sldId id="256"/>
            <p14:sldId id="267"/>
            <p14:sldId id="258"/>
            <p14:sldId id="259"/>
            <p14:sldId id="260"/>
            <p14:sldId id="261"/>
            <p14:sldId id="262"/>
            <p14:sldId id="263"/>
            <p14:sldId id="265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B\Documents\WALMAR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B\Documents\WALMAR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B\Documents\WALMAR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B\Documents\WALMAR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B\Documents\WALMAR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[WALMARTs.xlsx]ProductThatGeneratedHighestInc!PivotTable4</c:name>
    <c:fmtId val="1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ProductThatGeneratedHighestInc!$B$2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  <c:invertIfNegative val="0"/>
          <c:cat>
            <c:strRef>
              <c:f>ProductThatGeneratedHighestInc!$A$3:$A$6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ProductThatGeneratedHighestInc!$B$3:$B$6</c:f>
              <c:numCache>
                <c:formatCode>General</c:formatCode>
                <c:ptCount val="3"/>
                <c:pt idx="0">
                  <c:v>741718.42329999979</c:v>
                </c:pt>
                <c:pt idx="1">
                  <c:v>719047.03200000292</c:v>
                </c:pt>
                <c:pt idx="2">
                  <c:v>836154.03299999656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A0-412A-9647-7A31E8DAB8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138307584"/>
        <c:axId val="2138299264"/>
      </c:barChart>
      <c:catAx>
        <c:axId val="2138307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8299264"/>
        <c:crosses val="autoZero"/>
        <c:auto val="1"/>
        <c:lblAlgn val="ctr"/>
        <c:lblOffset val="100"/>
        <c:noMultiLvlLbl val="0"/>
      </c:catAx>
      <c:valAx>
        <c:axId val="2138299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8307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[WALMARTs.xlsx]StateThatGenHighNLow!PivotTable8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SUM</a:t>
            </a:r>
            <a:r>
              <a:rPr lang="en-US" baseline="0" dirty="0"/>
              <a:t> OF PROFIT BY STATE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circle"/>
          <c:size val="6"/>
          <c:spPr>
            <a:solidFill>
              <a:schemeClr val="accent1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StateThatGenHighNLow!$B$3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StateThatGenHighNLow!$A$4:$A$6</c:f>
              <c:strCache>
                <c:ptCount val="2"/>
                <c:pt idx="0">
                  <c:v>Indiana</c:v>
                </c:pt>
                <c:pt idx="1">
                  <c:v>Ohio</c:v>
                </c:pt>
              </c:strCache>
            </c:strRef>
          </c:cat>
          <c:val>
            <c:numRef>
              <c:f>StateThatGenHighNLow!$B$4:$B$6</c:f>
              <c:numCache>
                <c:formatCode>General</c:formatCode>
                <c:ptCount val="2"/>
                <c:pt idx="0">
                  <c:v>18382.936299999994</c:v>
                </c:pt>
                <c:pt idx="1">
                  <c:v>-16959.317800000001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36-4FA7-ABD1-79979B4E961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64"/>
        <c:overlap val="-22"/>
        <c:axId val="2137082128"/>
        <c:axId val="2137070480"/>
      </c:barChart>
      <c:catAx>
        <c:axId val="213708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7070480"/>
        <c:crosses val="autoZero"/>
        <c:auto val="1"/>
        <c:lblAlgn val="ctr"/>
        <c:lblOffset val="100"/>
        <c:noMultiLvlLbl val="0"/>
      </c:catAx>
      <c:valAx>
        <c:axId val="21370704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708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[WALMARTs.xlsx]SalesTrend2014-2017!PivotTable9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Sales</a:t>
            </a:r>
            <a:r>
              <a:rPr lang="en-US" baseline="0" dirty="0"/>
              <a:t>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tint val="94000"/>
                  <a:satMod val="100000"/>
                  <a:lumMod val="104000"/>
                </a:schemeClr>
              </a:gs>
              <a:gs pos="69000">
                <a:schemeClr val="accent1">
                  <a:shade val="86000"/>
                  <a:satMod val="130000"/>
                  <a:lumMod val="102000"/>
                </a:schemeClr>
              </a:gs>
              <a:gs pos="100000">
                <a:schemeClr val="accent1">
                  <a:shade val="72000"/>
                  <a:satMod val="130000"/>
                  <a:lumMod val="100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'SalesTrend2014-2017'!$B$2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/>
              </a:scene3d>
              <a:sp3d prstMaterial="matte">
                <a:bevelT w="25400" h="25400" prst="relaxedInset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'SalesTrend2014-2017'!$A$3:$A$7</c:f>
              <c:strCach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strCache>
            </c:strRef>
          </c:cat>
          <c:val>
            <c:numRef>
              <c:f>'SalesTrend2014-2017'!$B$3:$B$7</c:f>
              <c:numCache>
                <c:formatCode>General</c:formatCode>
                <c:ptCount val="4"/>
                <c:pt idx="0">
                  <c:v>470101.8211000007</c:v>
                </c:pt>
                <c:pt idx="1">
                  <c:v>479442.50199999969</c:v>
                </c:pt>
                <c:pt idx="2">
                  <c:v>611325.75300000072</c:v>
                </c:pt>
                <c:pt idx="3">
                  <c:v>730889.71539999999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0D-4FEF-A638-8C1C78325E0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34290736"/>
        <c:axId val="2134291984"/>
      </c:lineChart>
      <c:catAx>
        <c:axId val="213429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4291984"/>
        <c:crosses val="autoZero"/>
        <c:auto val="1"/>
        <c:lblAlgn val="ctr"/>
        <c:lblOffset val="100"/>
        <c:noMultiLvlLbl val="0"/>
      </c:catAx>
      <c:valAx>
        <c:axId val="2134291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4290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[WALMARTs.xlsx]RegionHighestProfit!PivotTable10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Region Profit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RegionHighestProfit!$B$2</c:f>
              <c:strCache>
                <c:ptCount val="1"/>
                <c:pt idx="0">
                  <c:v>Total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RegionHighestProfit!$A$3:$A$7</c:f>
              <c:strCache>
                <c:ptCount val="4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RegionHighestProfit!$B$3:$B$7</c:f>
              <c:numCache>
                <c:formatCode>General</c:formatCode>
                <c:ptCount val="4"/>
                <c:pt idx="0">
                  <c:v>39706.362499999967</c:v>
                </c:pt>
                <c:pt idx="1">
                  <c:v>91534.83880000026</c:v>
                </c:pt>
                <c:pt idx="2">
                  <c:v>46749.430300000058</c:v>
                </c:pt>
                <c:pt idx="3">
                  <c:v>108418.44890000013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11-47FB-9491-6C45D6A9DC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overlap val="-40"/>
        <c:axId val="2138143952"/>
        <c:axId val="2138144368"/>
      </c:barChart>
      <c:catAx>
        <c:axId val="213814395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8144368"/>
        <c:crosses val="autoZero"/>
        <c:auto val="1"/>
        <c:lblAlgn val="ctr"/>
        <c:lblOffset val="100"/>
        <c:noMultiLvlLbl val="0"/>
      </c:catAx>
      <c:valAx>
        <c:axId val="213814436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81439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[WALMARTs.xlsx]ConsumerSegmentHighestProfit!PivotTable11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Segment</a:t>
            </a:r>
            <a:r>
              <a:rPr lang="en-US" baseline="0" dirty="0"/>
              <a:t> Profit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</c:pivotFmt>
    </c:pivotFmts>
    <c:plotArea>
      <c:layout/>
      <c:pieChart>
        <c:varyColors val="1"/>
        <c:ser>
          <c:idx val="0"/>
          <c:order val="0"/>
          <c:tx>
            <c:strRef>
              <c:f>ConsumerSegmentHighestProfit!$B$2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/>
              </a:scene3d>
              <a:sp3d prstMaterial="matte">
                <a:bevelT w="25400" h="25400" prst="relaxedInset"/>
              </a:sp3d>
            </c:spPr>
            <c:extLst>
              <c:ext xmlns:c16="http://schemas.microsoft.com/office/drawing/2014/chart" uri="{C3380CC4-5D6E-409C-BE32-E72D297353CC}">
                <c16:uniqueId val="{00000001-3588-4324-AA2B-819A8E8D47D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/>
              </a:scene3d>
              <a:sp3d prstMaterial="matte">
                <a:bevelT w="25400" h="25400" prst="relaxedInset"/>
              </a:sp3d>
            </c:spPr>
            <c:extLst>
              <c:ext xmlns:c16="http://schemas.microsoft.com/office/drawing/2014/chart" uri="{C3380CC4-5D6E-409C-BE32-E72D297353CC}">
                <c16:uniqueId val="{00000003-3588-4324-AA2B-819A8E8D47D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/>
              </a:scene3d>
              <a:sp3d prstMaterial="matte">
                <a:bevelT w="25400" h="25400" prst="relaxedInset"/>
              </a:sp3d>
            </c:spPr>
            <c:extLst>
              <c:ext xmlns:c16="http://schemas.microsoft.com/office/drawing/2014/chart" uri="{C3380CC4-5D6E-409C-BE32-E72D297353CC}">
                <c16:uniqueId val="{00000005-3588-4324-AA2B-819A8E8D47D7}"/>
              </c:ext>
            </c:extLst>
          </c:dPt>
          <c:cat>
            <c:strRef>
              <c:f>ConsumerSegmentHighestProfit!$A$3:$A$6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ConsumerSegmentHighestProfit!$B$3:$B$6</c:f>
              <c:numCache>
                <c:formatCode>General</c:formatCode>
                <c:ptCount val="3"/>
                <c:pt idx="0">
                  <c:v>134119.20919999972</c:v>
                </c:pt>
                <c:pt idx="1">
                  <c:v>91979.13400000018</c:v>
                </c:pt>
                <c:pt idx="2">
                  <c:v>60310.737300000059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588-4324-AA2B-819A8E8D4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307AE-3307-44AD-9B1B-503FEAC42E4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533F5A-45C8-4049-AA40-11E6A65C6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50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33F5A-45C8-4049-AA40-11E6A65C68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93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33F5A-45C8-4049-AA40-11E6A65C68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69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718D-D77D-4F55-9DF9-70E937F39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2604800"/>
            <a:ext cx="9001462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Excel analysis project on Walmart orderbook between</a:t>
            </a:r>
            <a:br>
              <a:rPr lang="en-US" dirty="0"/>
            </a:br>
            <a:r>
              <a:rPr lang="en-US" dirty="0"/>
              <a:t>2014-2018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915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EC10-7BE7-4EAE-AC52-E34F7DF8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EF3A1-5352-4672-8EBA-384D64D1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analyzes Walmart sales data from 2014-2018.</a:t>
            </a:r>
          </a:p>
          <a:p>
            <a:r>
              <a:rPr lang="en-US" dirty="0"/>
              <a:t>The objective is to discover sales performance, customer behavior and profitability trends across regions, states and product categories.</a:t>
            </a:r>
          </a:p>
          <a:p>
            <a:r>
              <a:rPr lang="en-US" dirty="0"/>
              <a:t>Excel tools such as Pivot Tables, Charts and a few Formulas were used for the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14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F402-698B-4B93-AAAF-8D535AB3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Category with highest income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096A44-1BD7-4A47-B132-66C2EC7E2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76193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Technology category generated the highest income among all product categories. This indicates that technology products contribute significantly to the overall sales revenue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EC93AE12-D5F7-4B9B-A42D-01DB98A797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9383051"/>
              </p:ext>
            </p:extLst>
          </p:nvPr>
        </p:nvGraphicFramePr>
        <p:xfrm>
          <a:off x="913795" y="1935921"/>
          <a:ext cx="10353760" cy="3519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30315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D0EB-48E9-42EE-BD39-825A6D16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shipping time to customers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AA808-FC0E-4422-8E63-D20CD0F2C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average, it takes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3.95days for Walmart to ship products to customers.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the efficiency of the company’s delivery and logistics system.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677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C4FDC-5A99-4056-BD71-34D5E5160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0"/>
            <a:ext cx="10353761" cy="1326321"/>
          </a:xfrm>
        </p:spPr>
        <p:txBody>
          <a:bodyPr/>
          <a:lstStyle/>
          <a:p>
            <a:r>
              <a:rPr lang="en-US" dirty="0"/>
              <a:t>Top 10 highest paying customers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001C4-B827-4FF2-A865-99693F622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77636"/>
            <a:ext cx="10353762" cy="4613564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The top 10 customers contribute a significant portion of the total revenue.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These high-value customers are important for maintaining consistent sales growth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1028D9-E1B5-4E5E-8B39-2BBEC5A37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693828"/>
              </p:ext>
            </p:extLst>
          </p:nvPr>
        </p:nvGraphicFramePr>
        <p:xfrm>
          <a:off x="1177637" y="2244438"/>
          <a:ext cx="9712036" cy="4613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51351">
                  <a:extLst>
                    <a:ext uri="{9D8B030D-6E8A-4147-A177-3AD203B41FA5}">
                      <a16:colId xmlns:a16="http://schemas.microsoft.com/office/drawing/2014/main" val="2200916093"/>
                    </a:ext>
                  </a:extLst>
                </a:gridCol>
                <a:gridCol w="3860685">
                  <a:extLst>
                    <a:ext uri="{9D8B030D-6E8A-4147-A177-3AD203B41FA5}">
                      <a16:colId xmlns:a16="http://schemas.microsoft.com/office/drawing/2014/main" val="166128297"/>
                    </a:ext>
                  </a:extLst>
                </a:gridCol>
              </a:tblGrid>
              <a:tr h="38446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dirty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10 Customers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 of Sales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080815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dirty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Adrian Barton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dirty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14473.571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799549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Christopher Conant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12129.072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500067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dirty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Hunter Lopez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12873.298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26424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Ken Lonsdale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14175.229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913773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Raymond Buch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dirty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15117.339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732408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dirty="0" err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Sanjit</a:t>
                      </a:r>
                      <a:r>
                        <a:rPr lang="en-US" sz="1800" dirty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Chand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14142.334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670084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dirty="0" err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Sanjit</a:t>
                      </a:r>
                      <a:r>
                        <a:rPr lang="en-US" sz="1800" dirty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Engle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12209.438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86391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dirty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Sean Miller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25043.05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290384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Tamara Chand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19052.218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134467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 Ashbrook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14595.62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783637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Grand Total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dirty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153811.169</a:t>
                      </a:r>
                    </a:p>
                  </a:txBody>
                  <a:tcPr marL="9525" marR="9525" marT="9525" marB="0" anchor="b"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858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99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A2F3-417C-49BF-8D5C-5FD158135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0"/>
            <a:ext cx="10353761" cy="1326321"/>
          </a:xfrm>
        </p:spPr>
        <p:txBody>
          <a:bodyPr/>
          <a:lstStyle/>
          <a:p>
            <a:r>
              <a:rPr lang="en-US" dirty="0"/>
              <a:t>Profit performance by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45712-9FC5-49A2-A65B-354837770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48364"/>
            <a:ext cx="10353762" cy="54096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Indiana generated the highest profit, showing strong sales performance.</a:t>
            </a:r>
          </a:p>
          <a:p>
            <a:pPr marL="0" indent="0">
              <a:buNone/>
            </a:pPr>
            <a:r>
              <a:rPr lang="en-US" dirty="0"/>
              <a:t>Ohio generated the lowest profit suggesting lowers margins or higher operational cost in that region.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CA74729-C6E2-4271-BE57-2DA55C37A6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9919076"/>
              </p:ext>
            </p:extLst>
          </p:nvPr>
        </p:nvGraphicFramePr>
        <p:xfrm>
          <a:off x="924443" y="1326320"/>
          <a:ext cx="10343114" cy="3910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87019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96C2-7A17-4104-AD7F-F25152FFB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1326321"/>
          </a:xfrm>
        </p:spPr>
        <p:txBody>
          <a:bodyPr/>
          <a:lstStyle/>
          <a:p>
            <a:r>
              <a:rPr lang="en-US" dirty="0"/>
              <a:t>Sales trend analysis(2014-2017)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778E2-42EC-47A5-82BB-82C64F777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3162864"/>
            <a:ext cx="10353762" cy="36951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Sales show a steady growth trend from 2014 to 2017, indicating increasing demand and expansion of Walmart operations 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A506CFE-F7BC-49A1-8DF6-FFBA777513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5655286"/>
              </p:ext>
            </p:extLst>
          </p:nvPr>
        </p:nvGraphicFramePr>
        <p:xfrm>
          <a:off x="913795" y="1094509"/>
          <a:ext cx="10364410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42029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2338D-D75A-4811-85F2-3559AE7BA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1326321"/>
          </a:xfrm>
        </p:spPr>
        <p:txBody>
          <a:bodyPr/>
          <a:lstStyle/>
          <a:p>
            <a:r>
              <a:rPr lang="en-US" dirty="0"/>
              <a:t>Most profitable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359F8-961C-4B55-9730-1DD476986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3162864"/>
            <a:ext cx="10353762" cy="36951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West region generated the highest profit among all regions, making it the strongest performing region for Walmart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3ADE606-D615-4D69-A65A-E4F411347D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861943"/>
              </p:ext>
            </p:extLst>
          </p:nvPr>
        </p:nvGraphicFramePr>
        <p:xfrm>
          <a:off x="913795" y="955964"/>
          <a:ext cx="10353761" cy="4890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0817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43AA2-0E00-48E9-8F2D-36C6E2BE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8057"/>
            <a:ext cx="10353761" cy="1326321"/>
          </a:xfrm>
        </p:spPr>
        <p:txBody>
          <a:bodyPr/>
          <a:lstStyle/>
          <a:p>
            <a:r>
              <a:rPr lang="en-US" dirty="0"/>
              <a:t>Most profitable customer segment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34ADE-B23D-4676-9D12-23360AA43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953032"/>
            <a:ext cx="10353762" cy="36951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Consumer segment generated the highest profit, showing that individual buyers contribute more profit than corporate or home office.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0DFCC4C-41E7-45D5-ADC7-3CA955E787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4121169"/>
              </p:ext>
            </p:extLst>
          </p:nvPr>
        </p:nvGraphicFramePr>
        <p:xfrm>
          <a:off x="924443" y="1219200"/>
          <a:ext cx="10343113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35578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7466D-4F9E-4E5B-9F27-8976E00E2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86" y="0"/>
            <a:ext cx="10353761" cy="1326321"/>
          </a:xfrm>
        </p:spPr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7325D-61F7-4851-9FBD-6012F0F0F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734291"/>
            <a:ext cx="10353762" cy="5389418"/>
          </a:xfrm>
        </p:spPr>
        <p:txBody>
          <a:bodyPr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 is the highest revenue-generating category, indicating strong customer demand and premium pricing potential.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delivery time is 3.96 days, showing moderate operational efficiency with room for optimization.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Revenue is a bit concentrated among the Top 10 customers, highlighting dependency on high-value buyers.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Indiana is the most profitable state ($18,382.94), while Ohio is generating significant losses (-$16,959), showing geographic imbalance.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Sales experienced steady growth from 2014 to 2017, reflecting scalable and expanding business model.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West region leads in profitability, indicating stronger market performance and operational efficiency.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Consumer segment generates the highest profit, outperforming Corporate and Home Office segments.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Overall: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business is growing steadily with strong category and regional performers, but profitability disparities across states present risk exposure.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480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6A8A-8F2F-4198-AE6A-D3F37436F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04801"/>
            <a:ext cx="10353761" cy="1326321"/>
          </a:xfrm>
        </p:spPr>
        <p:txBody>
          <a:bodyPr/>
          <a:lstStyle/>
          <a:p>
            <a:r>
              <a:rPr lang="en-US" dirty="0"/>
              <a:t>RECOMMENDATIONS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63D49-07F9-4B74-8091-B53D9796E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93272"/>
            <a:ext cx="10353762" cy="4959927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Expand Technology category investment through inventory scaling, bundling, and targeted promotions.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 delivery efficiency by optimizing logistics to reduce shipping time below 3.5 days.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 Ohio’s losses through pricing review, cost reduction, and product mix analysis.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Replicate Indiana and West region strategies in underperforming states.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Strengthen retention of top 10 customers with loyalty programs and personalized engagement.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Focus growth strategy on the Consumer segment through digital marketing and customer experience enhancement.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8192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67E3-F043-417E-907F-E0BE74EA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0AD12-B469-4FD1-AF05-53153004A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20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4C44-9025-4B24-89EE-C5A59519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1326321"/>
          </a:xfrm>
        </p:spPr>
        <p:txBody>
          <a:bodyPr/>
          <a:lstStyle/>
          <a:p>
            <a:r>
              <a:rPr lang="en-US" dirty="0"/>
              <a:t>Business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5F9E2-4F68-41FA-A198-0A8718EA0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05345"/>
            <a:ext cx="10353762" cy="4585855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 is the highest income–generating category.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shipping time is 3.96 days.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Indiana is the most profitable state ($18,382.94).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Ohio is generating losses (-$16,959).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Sales show steady growth from 2014–2017.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West Region is the most profitable region.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Consumer segment drives the highest profit.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Executive Insight: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company demonstrates strong overall growth and profitability concentration in specific regions, categories, and customer segments. However, geographic profit imbalance and operational efficiency improvements present strategic opportunities.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690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9AC31-E289-4775-81DD-B979EFA7F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41" y="457200"/>
            <a:ext cx="10353761" cy="1326321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 Category Drives Revenue Leadership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BA4EE-C740-4AD4-B137-95C36FD12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680428"/>
            <a:ext cx="10353762" cy="4263172"/>
          </a:xfrm>
        </p:spPr>
        <p:txBody>
          <a:bodyPr>
            <a:normAutofit/>
          </a:bodyPr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 generated the highest total income.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Business Insight: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 products likely have higher margins and stronger demand elasticity.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Customers may perceive higher value in tech products compared to other categories.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Strategic Recommendations: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Increase inventory depth for high-performing tech SKUs.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Bundle technology products with accessories to increase average order value.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Invest in targeted marketing campaigns around technology.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Negotiate supplier contracts to further improve margins</a:t>
            </a:r>
            <a:endParaRPr lang="en-US" dirty="0"/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533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5DBB8-49A7-4703-9AF6-102C6790D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559911"/>
            <a:ext cx="10353761" cy="1326321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Delivery Time: 3.96 Days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F4804-B977-4E1E-8BD6-62B4A1A60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886232"/>
            <a:ext cx="10353762" cy="3695136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shipping time to customers is approximately 4 days.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Business Insight: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Delivery speed is competitive but not optimized.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Faster shipping could increase repeat purchases and customer satisfaction.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Strategic Recommendations: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Introduce 2–3 day premium shipping in high-demand regions.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 warehouse-to-customer routing efficiency.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Analyze shipping time variation by region to identify bottlenecks.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Leverage regional fulfillment centers in high-volume areas (e.g., West).</a:t>
            </a:r>
          </a:p>
        </p:txBody>
      </p:sp>
    </p:spTree>
    <p:extLst>
      <p:ext uri="{BB962C8B-B14F-4D97-AF65-F5344CB8AC3E}">
        <p14:creationId xmlns:p14="http://schemas.microsoft.com/office/powerpoint/2010/main" val="2561292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2F3C-6886-448D-B281-099DDA269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13" y="403639"/>
            <a:ext cx="10353761" cy="1326321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Revenue Concentration Among Top Customers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AEC4E-8A55-4A08-AB50-2D8C6630E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729960"/>
            <a:ext cx="10353762" cy="3695136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 10 customers contribute a significant portion of revenue.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Business Insight: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Revenue may be concentrated among a small group.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Losing key customers could significantly impact profitability.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Strategic Recommendations: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 VIP loyalty programs for top customers.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Assign account managers for high-value clients.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 personalized discounts and early access to new products.</a:t>
            </a:r>
          </a:p>
          <a:p>
            <a:pPr mar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Monitor purchasing patterns to predict churn risk.</a:t>
            </a:r>
            <a:endParaRPr lang="en-US" dirty="0"/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957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29A4C-D7FF-4699-8F52-B496E2851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Profit Disparity Across States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7845E-2C27-4939-AE86-84AA97AC9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763555"/>
            <a:ext cx="10353762" cy="3695136"/>
          </a:xfrm>
        </p:spPr>
        <p:txBody>
          <a:bodyPr>
            <a:no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Indiana: Most profitable ($18,382.94)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Ohio: Least profitable (-$16,959)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Business Insight: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Indiana operations demonstrate strong pricing and cost control.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Ohio losses may indicate discount overuse, high logistics costs, or poor product mix.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Strategic Recommendations: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Conduct cost structure analysis in Ohio.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Review discount and promotion policies in underperforming states.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Replicate Indiana’s pricing and operational strategy in similar markets.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 targeted marketing campaigns to improve Ohio sales mix.</a:t>
            </a:r>
          </a:p>
        </p:txBody>
      </p:sp>
    </p:spTree>
    <p:extLst>
      <p:ext uri="{BB962C8B-B14F-4D97-AF65-F5344CB8AC3E}">
        <p14:creationId xmlns:p14="http://schemas.microsoft.com/office/powerpoint/2010/main" val="2902963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93F7E-9A76-4783-9637-901A0B0B5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403639"/>
            <a:ext cx="10353761" cy="1326321"/>
          </a:xfrm>
        </p:spPr>
        <p:txBody>
          <a:bodyPr/>
          <a:lstStyle/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Sustained Revenue Growth Over Four Years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BF61B-9952-44C6-8ACA-17964C06B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729960"/>
            <a:ext cx="10353762" cy="3695136"/>
          </a:xfrm>
        </p:spPr>
        <p:txBody>
          <a:bodyPr>
            <a:no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Sales show steady increasing growth from 2014 to 2017.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Business Insight: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Business model is scalable.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Demand is increasing consistently.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Strong market positioning across years.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Strategic Recommendations: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Expand high-performing categories and regions.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Increase investment in digital sales channels.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Forecast future demand using historical growth pattern.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Prepare operational capacity for continued growth.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43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D662F-6BDC-49A9-8711-0F850C9B8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4" y="769743"/>
            <a:ext cx="10353761" cy="1326321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West Region Leads in Profitability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BBD85-686F-4B02-B93D-82590AC13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874391"/>
            <a:ext cx="10353762" cy="3695136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West region generated the highest profit.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Business Insight: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West region likely has strong customer base and optimized operations.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Market maturity and product demand may be stronger in this region.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Strategic Recommendations: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Expand marketing and warehouse capacity in West.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Study customer behavior in West and replicate strategy in other regions.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high-performing cities within West for micro-expansion.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69265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3B453-0719-46FF-91BC-F3F2A0C9D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Consumer Segment Drives Highest Profit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90274-1E3D-429D-A862-47B65F319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250" y="1708137"/>
            <a:ext cx="10353762" cy="3695136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Consumer segment outperforms Corporate and Home Office.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Business Insight: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 customers generate more cumulative profit.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B2C strategy appears stronger than B2B or institutional sales.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Strategic Recommendations: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Increase targeted promotions for individual consumers.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 subscription or loyalty programs for repeat buyers.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 digital marketing and personalization strategies.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Reassess corporate pricing to improve margins.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2602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293A-DBA5-43E3-9176-2B632115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69456-E3B7-47E8-BA6E-3F54289DE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Double down on Technology category expansion.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Optimize shipping operations to reduce delivery time below 3.5 days.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Fix underperforming states (especially Ohio) through cost and pricing review.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Invest more aggressively in the West region.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Strengthen retention of top 10 customers.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Focus growth strategy on Consumer segment.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Prepare infrastructure for sustained long-term growth.</a:t>
            </a:r>
          </a:p>
        </p:txBody>
      </p:sp>
    </p:spTree>
    <p:extLst>
      <p:ext uri="{BB962C8B-B14F-4D97-AF65-F5344CB8AC3E}">
        <p14:creationId xmlns:p14="http://schemas.microsoft.com/office/powerpoint/2010/main" val="34542287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156</TotalTime>
  <Words>1207</Words>
  <Application>Microsoft Office PowerPoint</Application>
  <PresentationFormat>Widescreen</PresentationFormat>
  <Paragraphs>193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Bookman Old Style</vt:lpstr>
      <vt:lpstr>Calibri</vt:lpstr>
      <vt:lpstr>Rockwell</vt:lpstr>
      <vt:lpstr>Times New Roman</vt:lpstr>
      <vt:lpstr>Damask</vt:lpstr>
      <vt:lpstr>Excel analysis project on Walmart orderbook between 2014-2018 </vt:lpstr>
      <vt:lpstr>Project overview</vt:lpstr>
      <vt:lpstr>Product Category with highest income </vt:lpstr>
      <vt:lpstr>Average shipping time to customers</vt:lpstr>
      <vt:lpstr>Top 10 highest paying customers</vt:lpstr>
      <vt:lpstr>Profit performance by state</vt:lpstr>
      <vt:lpstr>Sales trend analysis(2014-2017)</vt:lpstr>
      <vt:lpstr>Most profitable region</vt:lpstr>
      <vt:lpstr>Most profitable customer segment</vt:lpstr>
      <vt:lpstr>insights</vt:lpstr>
      <vt:lpstr>RECOMMENDATIONS </vt:lpstr>
      <vt:lpstr>PowerPoint Presentation</vt:lpstr>
      <vt:lpstr>Business highlights</vt:lpstr>
      <vt:lpstr>Technology Category Drives Revenue Leadership</vt:lpstr>
      <vt:lpstr>Average Delivery Time: 3.96 Days</vt:lpstr>
      <vt:lpstr>Revenue Concentration Among Top Customers</vt:lpstr>
      <vt:lpstr>Profit Disparity Across States</vt:lpstr>
      <vt:lpstr>Sustained Revenue Growth Over Four Years</vt:lpstr>
      <vt:lpstr>West Region Leads in Profitability</vt:lpstr>
      <vt:lpstr>Consumer Segment Drives Highest Profit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analysis project on Walmart orderbook between 2014-2017</dc:title>
  <dc:creator>KB</dc:creator>
  <cp:lastModifiedBy>KB</cp:lastModifiedBy>
  <cp:revision>17</cp:revision>
  <dcterms:created xsi:type="dcterms:W3CDTF">2026-03-05T07:41:34Z</dcterms:created>
  <dcterms:modified xsi:type="dcterms:W3CDTF">2026-03-06T09:07:25Z</dcterms:modified>
</cp:coreProperties>
</file>